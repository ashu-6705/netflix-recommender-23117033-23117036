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219456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50914"/>
                </a:solidFill>
                <a:latin typeface="Calibri"/>
              </a:rPr>
              <a:t>NETFLIX PRIZE  ·  PERSONALIZED CONTENT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Recommendation Systems for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Personalized Content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CCCCC"/>
                </a:solidFill>
                <a:latin typeface="Calibri"/>
              </a:rPr>
              <a:t>Bias  ·  Matrix Factorization  ·  Item-based Collaborative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08080"/>
                </a:solidFill>
                <a:latin typeface="Calibri"/>
              </a:rPr>
              <a:t>Mandatory metrics: RMSE &amp; MAP@10   |   relevance threshold = 3.5★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1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CCCCC"/>
                </a:solidFill>
                <a:latin typeface="Calibri"/>
              </a:rPr>
              <a:t>Ashutosh Singh (23117033)    ·    Ayush (23117036)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CCCCC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Problem &amp;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852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Goal: learn preferences from past ratings and surface the right Top-10 unseen titles per user.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Two coupled tasks that don't always agree: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Rating prediction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→ measured by RMSE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Ranking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→ measured by MAP@10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5852160" cy="1097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/>
          <a:lstStyle/>
          <a:p>
            <a:pPr algn="ctr"/>
            <a:r>
              <a:rPr sz="1400">
                <a:solidFill>
                  <a:srgbClr val="1A1A1A"/>
                </a:solidFill>
                <a:latin typeface="Calibri"/>
              </a:rPr>
              <a:t>Core challenges: extreme sparsity, long-tail popularity, positivity bias, and cold-start.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73152" cy="10972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463040"/>
            <a:ext cx="2651760" cy="566928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Working set (k-core)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1463040"/>
            <a:ext cx="1737360" cy="566928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029968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02996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629,679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596896"/>
            <a:ext cx="265176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96896"/>
            <a:ext cx="173736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28,411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3163824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Movies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16382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6,823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730752"/>
            <a:ext cx="265176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730752"/>
            <a:ext cx="173736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0.325%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429768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Mean rating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429768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3.51★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2120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08080"/>
                </a:solidFill>
                <a:latin typeface="Calibri"/>
              </a:rPr>
              <a:t>Sampled from the full 100M-rating corpus via reservoir sampling, then k-core filtered (users ≥ 15, movies ≥ 10).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What the Data Told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ting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232366" cy="2468880"/>
          </a:xfrm>
          <a:prstGeom prst="rect">
            <a:avLst/>
          </a:prstGeom>
        </p:spPr>
      </p:pic>
      <p:pic>
        <p:nvPicPr>
          <p:cNvPr id="5" name="Picture 4" descr="movie_pop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4232366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1148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Positivity bias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— ~85% of ratings are 3–5★; a model must beat the "predict the mean" trap.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Power-law popularity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— a few blockbusters dominate, making popularity a deceptively strong baseline.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Temporal growth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— rating volume rises sharply, so we use a temporal (past→future) split, not random.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Three Models, One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743200" cy="713232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554480"/>
            <a:ext cx="3931920" cy="713232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0" y="1554480"/>
            <a:ext cx="3749039" cy="713232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67712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Baseline (Bias)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26771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μ + b_u + b_i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0" y="2267712"/>
            <a:ext cx="37490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Strong, cheap RMSE floor; popularity ranker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80944"/>
            <a:ext cx="274320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Matrix Factorization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980944"/>
            <a:ext cx="393192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μ + b_u + b_i + p_u·q_i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2980944"/>
            <a:ext cx="3749039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Latent-factor personalization (SGD)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9417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Item-based CF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694176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cosine item neighbours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3694176"/>
            <a:ext cx="37490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Explainable, diversity-oriented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/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 xml:space="preserve">Evaluation protocol.  </a:t>
            </a:r>
            <a:r>
              <a:rPr sz="1400">
                <a:solidFill>
                  <a:srgbClr val="1A1A1A"/>
                </a:solidFill>
                <a:latin typeface="Calibri"/>
              </a:rPr>
              <a:t>Temporal 80/20 per-user split · relevance = rating ≥ 3.5 · Top-10 by scoring all items and masking seen ones · reported on both all-items and 100-sampled-negative protocols.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73152" cy="1188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Rating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2011680" cy="45720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691640"/>
            <a:ext cx="1371600" cy="45720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011680" cy="45720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Bias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48840"/>
            <a:ext cx="1371600" cy="45720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0.915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2011680" cy="45720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606040"/>
            <a:ext cx="1371600" cy="45720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0.915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Item-CF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30632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Ranking (100-neg)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2011680" cy="45720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160520"/>
            <a:ext cx="1371600" cy="45720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MAP@10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160520"/>
            <a:ext cx="1280160" cy="45720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HR@10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617720"/>
            <a:ext cx="2011680" cy="45720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Popularity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617720"/>
            <a:ext cx="1371600" cy="45720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0.107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617720"/>
            <a:ext cx="1280160" cy="45720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0.50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74920"/>
            <a:ext cx="2011680" cy="45720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5074920"/>
            <a:ext cx="1371600" cy="45720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0.088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5074920"/>
            <a:ext cx="1280160" cy="45720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0.45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5321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Item-CF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5532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0.018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553212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0.13</a:t>
            </a:r>
          </a:p>
        </p:txBody>
      </p:sp>
      <p:pic>
        <p:nvPicPr>
          <p:cNvPr id="26" name="Picture 25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54480"/>
            <a:ext cx="6400800" cy="2560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Central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Models that tie on RMSE behave completely differently when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Popularity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wins hit-rate — but covers &lt;1% of the catalog.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MF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personalizes at near-equal quality.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Item-CF</a:t>
            </a:r>
            <a:r>
              <a:rPr sz="1500" b="0">
                <a:solidFill>
                  <a:srgbClr val="1A1A1A"/>
                </a:solidFill>
                <a:latin typeface="Calibri"/>
              </a:rPr>
              <a:t xml:space="preserve"> reaches 61% coverage — far more diverse — at an accuracy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5212080" cy="1280160"/>
          </a:xfrm>
          <a:prstGeom prst="rect">
            <a:avLst/>
          </a:prstGeom>
          <a:solidFill>
            <a:srgbClr val="22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b="1" sz="1400">
                <a:solidFill>
                  <a:srgbClr val="E50914"/>
                </a:solidFill>
                <a:latin typeface="Calibri"/>
              </a:rPr>
              <a:t xml:space="preserve">No single model wins every metric. </a:t>
            </a:r>
            <a:r>
              <a:rPr sz="1400">
                <a:solidFill>
                  <a:srgbClr val="FFFFFF"/>
                </a:solidFill>
                <a:latin typeface="Calibri"/>
              </a:rPr>
              <a:t>The right choice depends on the objective: hit-rate, personalization, or discovery.</a:t>
            </a:r>
          </a:p>
        </p:txBody>
      </p:sp>
      <p:pic>
        <p:nvPicPr>
          <p:cNvPr id="7" name="Picture 6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120640" cy="2987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Recommendations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MF Top-10 for a user who loved epics &amp; acclaimed series — it recovered a held-out relevant title (✓):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640080" cy="50292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103120"/>
            <a:ext cx="4572000" cy="502920"/>
          </a:xfrm>
          <a:prstGeom prst="rect">
            <a:avLst/>
          </a:prstGeom>
          <a:solidFill>
            <a:srgbClr val="221F1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Recommended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6060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The Simpsons: Season 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64008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108960"/>
            <a:ext cx="457200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LOTR: Return of the King (Ext.)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6118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LOTR: The Two Towers (Ext.)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640080" cy="50292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114800"/>
            <a:ext cx="4572000" cy="502920"/>
          </a:xfrm>
          <a:prstGeom prst="rect">
            <a:avLst/>
          </a:prstGeom>
          <a:solidFill>
            <a:srgbClr val="FFE3E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Family Guy Collection 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1772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461772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The Shawshank Redemption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50292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/>
          <a:lstStyle/>
          <a:p>
            <a:pPr algn="ctr"/>
            <a:r>
              <a:rPr b="1" sz="1500">
                <a:solidFill>
                  <a:srgbClr val="1A1A1A"/>
                </a:solidFill>
                <a:latin typeface="Calibri"/>
              </a:rPr>
              <a:t xml:space="preserve">Explainability.  </a:t>
            </a:r>
            <a:r>
              <a:rPr sz="1400">
                <a:solidFill>
                  <a:srgbClr val="1A1A1A"/>
                </a:solidFill>
                <a:latin typeface="Calibri"/>
              </a:rPr>
              <a:t>Item-CF supports natural "because you watched X" rationales — though sparse co-ratings make those similarities noisy, which is exactly why its ranking lags.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73152" cy="21031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Key Insights &amp;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50914"/>
                </a:solidFill>
                <a:latin typeface="Calibri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RMSE ≠ recommendation quality.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Popularity bias is strong but kills diversity.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MF is the best balanced single choice.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Sparsity punishes memory-based CF.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50914"/>
                </a:solidFill>
                <a:latin typeface="Calibri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Scale to the full 100M ratings.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Implicit &amp; ranking-native models (ALS, BPR).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Hybrid / content features for cold-start.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E50914"/>
                </a:solidFill>
              </a:rPr>
              <a:t xml:space="preserve"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Diversity-aware re-ranking; neural CF.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08080"/>
                </a:solidFill>
                <a:latin typeface="Calibri"/>
              </a:rPr>
              <a:t>Reproducible notebook · fixed seed 42 · 2,500 evaluation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CCCC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