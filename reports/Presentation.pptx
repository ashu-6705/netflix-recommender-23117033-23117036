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219456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50914"/>
                </a:solidFill>
                <a:latin typeface="Calibri"/>
              </a:rPr>
              <a:t>NETFLIX PRIZE  ·  PERSONALIZED CONTENT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607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Recommendation Systems for</a:t>
            </a:r>
          </a:p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Personalized Content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CCCCCC"/>
                </a:solidFill>
                <a:latin typeface="Calibri"/>
              </a:rPr>
              <a:t>Bias  ·  Matrix Factorization  ·  Item-based Collaborative Filtering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08080"/>
                </a:solidFill>
                <a:latin typeface="Calibri"/>
              </a:rPr>
              <a:t>Mandatory metrics: RMSE &amp; MAP@10   |   relevance threshold = 3.5★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CCCCCC"/>
                </a:solidFill>
                <a:latin typeface="Calibr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A1A1A"/>
                </a:solidFill>
                <a:latin typeface="Calibri"/>
              </a:rPr>
              <a:t>The Problem &amp; The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43000"/>
            <a:ext cx="274320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8521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alibri"/>
              </a:rPr>
              <a:t>Goal: learn preferences from past ratings and surface the right Top-10 unseen titles per user.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A1A1A"/>
                </a:solidFill>
                <a:latin typeface="Calibri"/>
              </a:rPr>
              <a:t>Two coupled tasks that don't always agree: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E50914"/>
                </a:solidFill>
              </a:rPr>
              <a:t>•  </a:t>
            </a:r>
            <a:r>
              <a:rPr sz="1500" b="1">
                <a:solidFill>
                  <a:srgbClr val="1A1A1A"/>
                </a:solidFill>
                <a:latin typeface="Calibri"/>
              </a:rPr>
              <a:t>Rating prediction</a:t>
            </a:r>
            <a:r>
              <a:rPr sz="1500" b="0">
                <a:solidFill>
                  <a:srgbClr val="1A1A1A"/>
                </a:solidFill>
                <a:latin typeface="Calibri"/>
              </a:rPr>
              <a:t> → measured by RMSE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E50914"/>
                </a:solidFill>
              </a:rPr>
              <a:t>•  </a:t>
            </a:r>
            <a:r>
              <a:rPr sz="1500" b="1">
                <a:solidFill>
                  <a:srgbClr val="1A1A1A"/>
                </a:solidFill>
                <a:latin typeface="Calibri"/>
              </a:rPr>
              <a:t>Ranking</a:t>
            </a:r>
            <a:r>
              <a:rPr sz="1500" b="0">
                <a:solidFill>
                  <a:srgbClr val="1A1A1A"/>
                </a:solidFill>
                <a:latin typeface="Calibri"/>
              </a:rPr>
              <a:t> → measured by MAP@10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931920"/>
            <a:ext cx="5852160" cy="10972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/>
          <a:lstStyle/>
          <a:p>
            <a:pPr algn="ctr"/>
            <a:r>
              <a:rPr sz="1400">
                <a:solidFill>
                  <a:srgbClr val="1A1A1A"/>
                </a:solidFill>
                <a:latin typeface="Calibri"/>
              </a:rPr>
              <a:t>Core challenges: extreme sparsity, long-tail popularity, positivity bias, and cold-start.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73152" cy="109728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040880" y="1463040"/>
            <a:ext cx="2651760" cy="566928"/>
          </a:xfrm>
          <a:prstGeom prst="rect">
            <a:avLst/>
          </a:prstGeom>
          <a:solidFill>
            <a:srgbClr val="221F1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Working set (k-core)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0" y="1463040"/>
            <a:ext cx="1737360" cy="566928"/>
          </a:xfrm>
          <a:prstGeom prst="rect">
            <a:avLst/>
          </a:prstGeom>
          <a:solidFill>
            <a:srgbClr val="221F1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7040880" y="2029968"/>
            <a:ext cx="26517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Ratings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2029968"/>
            <a:ext cx="1737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629,679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2596896"/>
            <a:ext cx="2651760" cy="566928"/>
          </a:xfrm>
          <a:prstGeom prst="rect">
            <a:avLst/>
          </a:prstGeom>
          <a:solidFill>
            <a:srgbClr val="F6F6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Users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2596896"/>
            <a:ext cx="1737360" cy="566928"/>
          </a:xfrm>
          <a:prstGeom prst="rect">
            <a:avLst/>
          </a:prstGeom>
          <a:solidFill>
            <a:srgbClr val="F6F6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28,411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0" y="3163824"/>
            <a:ext cx="26517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Movies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92640" y="3163824"/>
            <a:ext cx="1737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6,823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3730752"/>
            <a:ext cx="2651760" cy="566928"/>
          </a:xfrm>
          <a:prstGeom prst="rect">
            <a:avLst/>
          </a:prstGeom>
          <a:solidFill>
            <a:srgbClr val="F6F6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Density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3730752"/>
            <a:ext cx="1737360" cy="566928"/>
          </a:xfrm>
          <a:prstGeom prst="rect">
            <a:avLst/>
          </a:prstGeom>
          <a:solidFill>
            <a:srgbClr val="F6F6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0.325%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4297680"/>
            <a:ext cx="26517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Mean rating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92640" y="4297680"/>
            <a:ext cx="1737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3.51★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5212080"/>
            <a:ext cx="4389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808080"/>
                </a:solidFill>
                <a:latin typeface="Calibri"/>
              </a:rPr>
              <a:t>Sampled from the full 100M-rating corpus via reservoir sampling, then k-core filtered (users ≥ 15, movies ≥ 10).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08080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A1A1A"/>
                </a:solidFill>
                <a:latin typeface="Calibri"/>
              </a:rPr>
              <a:t>What the Data Told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43000"/>
            <a:ext cx="274320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ting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232366" cy="2468880"/>
          </a:xfrm>
          <a:prstGeom prst="rect">
            <a:avLst/>
          </a:prstGeom>
        </p:spPr>
      </p:pic>
      <p:pic>
        <p:nvPicPr>
          <p:cNvPr id="5" name="Picture 4" descr="movie_popu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4232366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4114800"/>
            <a:ext cx="10607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E50914"/>
                </a:solidFill>
              </a:rPr>
              <a:t>•  </a:t>
            </a:r>
            <a:r>
              <a:rPr sz="1500" b="1">
                <a:solidFill>
                  <a:srgbClr val="1A1A1A"/>
                </a:solidFill>
                <a:latin typeface="Calibri"/>
              </a:rPr>
              <a:t>Positivity bias</a:t>
            </a:r>
            <a:r>
              <a:rPr sz="1500" b="0">
                <a:solidFill>
                  <a:srgbClr val="1A1A1A"/>
                </a:solidFill>
                <a:latin typeface="Calibri"/>
              </a:rPr>
              <a:t> — ~85% of ratings are 3–5★; a model must beat the "predict the mean" trap.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E50914"/>
                </a:solidFill>
              </a:rPr>
              <a:t>•  </a:t>
            </a:r>
            <a:r>
              <a:rPr sz="1500" b="1">
                <a:solidFill>
                  <a:srgbClr val="1A1A1A"/>
                </a:solidFill>
                <a:latin typeface="Calibri"/>
              </a:rPr>
              <a:t>Power-law popularity</a:t>
            </a:r>
            <a:r>
              <a:rPr sz="1500" b="0">
                <a:solidFill>
                  <a:srgbClr val="1A1A1A"/>
                </a:solidFill>
                <a:latin typeface="Calibri"/>
              </a:rPr>
              <a:t> — a few blockbusters dominate, making popularity a deceptively strong baseline.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E50914"/>
                </a:solidFill>
              </a:rPr>
              <a:t>•  </a:t>
            </a:r>
            <a:r>
              <a:rPr sz="1500" b="1">
                <a:solidFill>
                  <a:srgbClr val="1A1A1A"/>
                </a:solidFill>
                <a:latin typeface="Calibri"/>
              </a:rPr>
              <a:t>Temporal growth</a:t>
            </a:r>
            <a:r>
              <a:rPr sz="1500" b="0">
                <a:solidFill>
                  <a:srgbClr val="1A1A1A"/>
                </a:solidFill>
                <a:latin typeface="Calibri"/>
              </a:rPr>
              <a:t> — rating volume rises sharply, so we use a temporal (past→future) split, not random.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08080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A1A1A"/>
                </a:solidFill>
                <a:latin typeface="Calibri"/>
              </a:rPr>
              <a:t>Three Models, One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43000"/>
            <a:ext cx="274320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554480"/>
            <a:ext cx="2743200" cy="713232"/>
          </a:xfrm>
          <a:prstGeom prst="rect">
            <a:avLst/>
          </a:prstGeom>
          <a:solidFill>
            <a:srgbClr val="221F1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3566160" y="1554480"/>
            <a:ext cx="3931920" cy="713232"/>
          </a:xfrm>
          <a:prstGeom prst="rect">
            <a:avLst/>
          </a:prstGeom>
          <a:solidFill>
            <a:srgbClr val="221F1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Prediction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0" y="1554480"/>
            <a:ext cx="3749039" cy="713232"/>
          </a:xfrm>
          <a:prstGeom prst="rect">
            <a:avLst/>
          </a:prstGeom>
          <a:solidFill>
            <a:srgbClr val="221F1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Strength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267712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Baseline (Bias)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2267712"/>
            <a:ext cx="3931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μ + b_u + b_i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0" y="2267712"/>
            <a:ext cx="37490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Strong, cheap RMSE floor; popularity ranker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980944"/>
            <a:ext cx="2743200" cy="713232"/>
          </a:xfrm>
          <a:prstGeom prst="rect">
            <a:avLst/>
          </a:prstGeom>
          <a:solidFill>
            <a:srgbClr val="F6F6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Matrix Factorization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2980944"/>
            <a:ext cx="3931920" cy="713232"/>
          </a:xfrm>
          <a:prstGeom prst="rect">
            <a:avLst/>
          </a:prstGeom>
          <a:solidFill>
            <a:srgbClr val="F6F6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μ + b_u + b_i + p_u·q_i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0" y="2980944"/>
            <a:ext cx="3749039" cy="713232"/>
          </a:xfrm>
          <a:prstGeom prst="rect">
            <a:avLst/>
          </a:prstGeom>
          <a:solidFill>
            <a:srgbClr val="F6F6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Latent-factor personalization (SGD)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694176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Item-based CF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3694176"/>
            <a:ext cx="3931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cosine item neighbours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0" y="3694176"/>
            <a:ext cx="37490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Explainable, diversity-oriented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754880"/>
            <a:ext cx="10515600" cy="11887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/>
          <a:lstStyle/>
          <a:p>
            <a:pPr algn="ctr"/>
            <a:r>
              <a:rPr b="1" sz="1400">
                <a:solidFill>
                  <a:srgbClr val="1A1A1A"/>
                </a:solidFill>
                <a:latin typeface="Calibri"/>
              </a:rPr>
              <a:t>Evaluation protocol.  </a:t>
            </a:r>
            <a:r>
              <a:rPr sz="1400">
                <a:solidFill>
                  <a:srgbClr val="1A1A1A"/>
                </a:solidFill>
                <a:latin typeface="Calibri"/>
              </a:rPr>
              <a:t>Temporal 80/20 per-user split · relevance = rating ≥ 3.5 · Top-10 by scoring all items and masking seen ones · reported on both all-items and 100-sampled-negative protocols.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754880"/>
            <a:ext cx="73152" cy="1188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08080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A1A1A"/>
                </a:solidFill>
                <a:latin typeface="Calibri"/>
              </a:rPr>
              <a:t>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43000"/>
            <a:ext cx="274320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Rating accuracy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2011680" cy="457200"/>
          </a:xfrm>
          <a:prstGeom prst="rect">
            <a:avLst/>
          </a:prstGeom>
          <a:solidFill>
            <a:srgbClr val="221F1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2834640" y="1691640"/>
            <a:ext cx="1371600" cy="457200"/>
          </a:xfrm>
          <a:prstGeom prst="rect">
            <a:avLst/>
          </a:prstGeom>
          <a:solidFill>
            <a:srgbClr val="221F1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RMSE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148840"/>
            <a:ext cx="2011680" cy="457200"/>
          </a:xfrm>
          <a:prstGeom prst="rect">
            <a:avLst/>
          </a:prstGeom>
          <a:solidFill>
            <a:srgbClr val="FFE3E5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Bias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2148840"/>
            <a:ext cx="1371600" cy="457200"/>
          </a:xfrm>
          <a:prstGeom prst="rect">
            <a:avLst/>
          </a:prstGeom>
          <a:solidFill>
            <a:srgbClr val="FFE3E5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0.915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606040"/>
            <a:ext cx="2011680" cy="457200"/>
          </a:xfrm>
          <a:prstGeom prst="rect">
            <a:avLst/>
          </a:prstGeom>
          <a:solidFill>
            <a:srgbClr val="F6F6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MF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4640" y="2606040"/>
            <a:ext cx="1371600" cy="457200"/>
          </a:xfrm>
          <a:prstGeom prst="rect">
            <a:avLst/>
          </a:prstGeom>
          <a:solidFill>
            <a:srgbClr val="F6F6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0.915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063240"/>
            <a:ext cx="20116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Item-CF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3063240"/>
            <a:ext cx="1371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1.012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9476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Ranking (100-neg)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160520"/>
            <a:ext cx="2011680" cy="457200"/>
          </a:xfrm>
          <a:prstGeom prst="rect">
            <a:avLst/>
          </a:prstGeom>
          <a:solidFill>
            <a:srgbClr val="221F1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34640" y="4160520"/>
            <a:ext cx="1371600" cy="457200"/>
          </a:xfrm>
          <a:prstGeom prst="rect">
            <a:avLst/>
          </a:prstGeom>
          <a:solidFill>
            <a:srgbClr val="221F1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MAP@10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6240" y="4160520"/>
            <a:ext cx="1280160" cy="457200"/>
          </a:xfrm>
          <a:prstGeom prst="rect">
            <a:avLst/>
          </a:prstGeom>
          <a:solidFill>
            <a:srgbClr val="221F1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HR@10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617720"/>
            <a:ext cx="2011680" cy="457200"/>
          </a:xfrm>
          <a:prstGeom prst="rect">
            <a:avLst/>
          </a:prstGeom>
          <a:solidFill>
            <a:srgbClr val="FFE3E5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Popularity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34640" y="4617720"/>
            <a:ext cx="1371600" cy="457200"/>
          </a:xfrm>
          <a:prstGeom prst="rect">
            <a:avLst/>
          </a:prstGeom>
          <a:solidFill>
            <a:srgbClr val="FFE3E5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0.107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4617720"/>
            <a:ext cx="1280160" cy="457200"/>
          </a:xfrm>
          <a:prstGeom prst="rect">
            <a:avLst/>
          </a:prstGeom>
          <a:solidFill>
            <a:srgbClr val="FFE3E5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0.50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074920"/>
            <a:ext cx="2011680" cy="457200"/>
          </a:xfrm>
          <a:prstGeom prst="rect">
            <a:avLst/>
          </a:prstGeom>
          <a:solidFill>
            <a:srgbClr val="F6F6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MF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34640" y="5074920"/>
            <a:ext cx="1371600" cy="457200"/>
          </a:xfrm>
          <a:prstGeom prst="rect">
            <a:avLst/>
          </a:prstGeom>
          <a:solidFill>
            <a:srgbClr val="F6F6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0.088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06240" y="5074920"/>
            <a:ext cx="1280160" cy="457200"/>
          </a:xfrm>
          <a:prstGeom prst="rect">
            <a:avLst/>
          </a:prstGeom>
          <a:solidFill>
            <a:srgbClr val="F6F6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0.45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5532120"/>
            <a:ext cx="20116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Item-CF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34640" y="5532120"/>
            <a:ext cx="1371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0.018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5532120"/>
            <a:ext cx="12801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0.13</a:t>
            </a:r>
          </a:p>
        </p:txBody>
      </p:sp>
      <p:pic>
        <p:nvPicPr>
          <p:cNvPr id="26" name="Picture 25" descr="model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554480"/>
            <a:ext cx="6400800" cy="2560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08080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A1A1A"/>
                </a:solidFill>
                <a:latin typeface="Calibri"/>
              </a:rPr>
              <a:t>The Central Trade-off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43000"/>
            <a:ext cx="274320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A1A1A"/>
                </a:solidFill>
                <a:latin typeface="Calibri"/>
              </a:rPr>
              <a:t>Models that tie on RMSE behave completely differently when ranking.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E50914"/>
                </a:solidFill>
              </a:rPr>
              <a:t>•  </a:t>
            </a:r>
            <a:r>
              <a:rPr sz="1500" b="1">
                <a:solidFill>
                  <a:srgbClr val="1A1A1A"/>
                </a:solidFill>
                <a:latin typeface="Calibri"/>
              </a:rPr>
              <a:t>Popularity</a:t>
            </a:r>
            <a:r>
              <a:rPr sz="1500" b="0">
                <a:solidFill>
                  <a:srgbClr val="1A1A1A"/>
                </a:solidFill>
                <a:latin typeface="Calibri"/>
              </a:rPr>
              <a:t> wins hit-rate — but covers &lt;1% of the catalog.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E50914"/>
                </a:solidFill>
              </a:rPr>
              <a:t>•  </a:t>
            </a:r>
            <a:r>
              <a:rPr sz="1500" b="1">
                <a:solidFill>
                  <a:srgbClr val="1A1A1A"/>
                </a:solidFill>
                <a:latin typeface="Calibri"/>
              </a:rPr>
              <a:t>MF</a:t>
            </a:r>
            <a:r>
              <a:rPr sz="1500" b="0">
                <a:solidFill>
                  <a:srgbClr val="1A1A1A"/>
                </a:solidFill>
                <a:latin typeface="Calibri"/>
              </a:rPr>
              <a:t> personalizes at near-equal quality.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E50914"/>
                </a:solidFill>
              </a:rPr>
              <a:t>•  </a:t>
            </a:r>
            <a:r>
              <a:rPr sz="1500" b="1">
                <a:solidFill>
                  <a:srgbClr val="1A1A1A"/>
                </a:solidFill>
                <a:latin typeface="Calibri"/>
              </a:rPr>
              <a:t>Item-CF</a:t>
            </a:r>
            <a:r>
              <a:rPr sz="1500" b="0">
                <a:solidFill>
                  <a:srgbClr val="1A1A1A"/>
                </a:solidFill>
                <a:latin typeface="Calibri"/>
              </a:rPr>
              <a:t> reaches 61% coverage — far more diverse — at an accuracy cost.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572000"/>
            <a:ext cx="5212080" cy="1280160"/>
          </a:xfrm>
          <a:prstGeom prst="rect">
            <a:avLst/>
          </a:prstGeom>
          <a:solidFill>
            <a:srgbClr val="22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/>
          <a:lstStyle/>
          <a:p>
            <a:pPr algn="ctr"/>
            <a:r>
              <a:rPr b="1" sz="1400">
                <a:solidFill>
                  <a:srgbClr val="E50914"/>
                </a:solidFill>
                <a:latin typeface="Calibri"/>
              </a:rPr>
              <a:t>No single model wins every metric. </a:t>
            </a:r>
            <a:r>
              <a:rPr sz="1400">
                <a:solidFill>
                  <a:srgbClr val="FFFFFF"/>
                </a:solidFill>
                <a:latin typeface="Calibri"/>
              </a:rPr>
              <a:t>The right choice depends on the objective: hit-rate, personalization, or discovery.</a:t>
            </a:r>
          </a:p>
        </p:txBody>
      </p:sp>
      <p:pic>
        <p:nvPicPr>
          <p:cNvPr id="7" name="Picture 6" descr="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2987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08080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A1A1A"/>
                </a:solidFill>
                <a:latin typeface="Calibri"/>
              </a:rPr>
              <a:t>Recommendations in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43000"/>
            <a:ext cx="274320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1A1A1A"/>
                </a:solidFill>
                <a:latin typeface="Calibri"/>
              </a:rPr>
              <a:t>MF Top-10 for a user who loved epics &amp; acclaimed series — it recovered a held-out relevant title (✓):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03120"/>
            <a:ext cx="640080" cy="502920"/>
          </a:xfrm>
          <a:prstGeom prst="rect">
            <a:avLst/>
          </a:prstGeom>
          <a:solidFill>
            <a:srgbClr val="221F1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2103120"/>
            <a:ext cx="4572000" cy="502920"/>
          </a:xfrm>
          <a:prstGeom prst="rect">
            <a:avLst/>
          </a:prstGeom>
          <a:solidFill>
            <a:srgbClr val="221F1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Recommended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60604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3040" y="2606040"/>
            <a:ext cx="45720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The Simpsons: Season 5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108960"/>
            <a:ext cx="640080" cy="502920"/>
          </a:xfrm>
          <a:prstGeom prst="rect">
            <a:avLst/>
          </a:prstGeom>
          <a:solidFill>
            <a:srgbClr val="F6F6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3108960"/>
            <a:ext cx="4572000" cy="502920"/>
          </a:xfrm>
          <a:prstGeom prst="rect">
            <a:avLst/>
          </a:prstGeom>
          <a:solidFill>
            <a:srgbClr val="F6F6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LOTR: Return of the King (Ext.)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61188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3611880"/>
            <a:ext cx="45720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LOTR: The Two Towers (Ext.)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114800"/>
            <a:ext cx="640080" cy="502920"/>
          </a:xfrm>
          <a:prstGeom prst="rect">
            <a:avLst/>
          </a:prstGeom>
          <a:solidFill>
            <a:srgbClr val="FFE3E5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40" y="4114800"/>
            <a:ext cx="4572000" cy="502920"/>
          </a:xfrm>
          <a:prstGeom prst="rect">
            <a:avLst/>
          </a:prstGeom>
          <a:solidFill>
            <a:srgbClr val="FFE3E5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Family Guy Collection  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61772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63040" y="4617720"/>
            <a:ext cx="45720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25400" bIns="25400"/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The Shawshank Redemption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286000"/>
            <a:ext cx="5029200" cy="21031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/>
          <a:lstStyle/>
          <a:p>
            <a:pPr algn="ctr"/>
            <a:r>
              <a:rPr b="1" sz="1500">
                <a:solidFill>
                  <a:srgbClr val="1A1A1A"/>
                </a:solidFill>
                <a:latin typeface="Calibri"/>
              </a:rPr>
              <a:t>Explainability.  </a:t>
            </a:r>
            <a:r>
              <a:rPr sz="1400">
                <a:solidFill>
                  <a:srgbClr val="1A1A1A"/>
                </a:solidFill>
                <a:latin typeface="Calibri"/>
              </a:rPr>
              <a:t>Item-CF supports natural "because you watched X" rationales — though sparse co-ratings make those similarities noisy, which is exactly why its ranking lags.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286000"/>
            <a:ext cx="73152" cy="21031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08080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Key Insights &amp; 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80160"/>
            <a:ext cx="274320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50914"/>
                </a:solidFill>
                <a:latin typeface="Calibri"/>
              </a:rPr>
              <a:t>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E50914"/>
                </a:solidFill>
              </a:rPr>
              <a:t>•  </a:t>
            </a:r>
            <a:r>
              <a:rPr sz="1500" b="0">
                <a:solidFill>
                  <a:srgbClr val="FFFFFF"/>
                </a:solidFill>
                <a:latin typeface="Calibri"/>
              </a:rPr>
              <a:t>RMSE ≠ recommendation quality.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E50914"/>
                </a:solidFill>
              </a:rPr>
              <a:t>•  </a:t>
            </a:r>
            <a:r>
              <a:rPr sz="1500" b="0">
                <a:solidFill>
                  <a:srgbClr val="FFFFFF"/>
                </a:solidFill>
                <a:latin typeface="Calibri"/>
              </a:rPr>
              <a:t>Popularity bias is strong but kills diversity.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E50914"/>
                </a:solidFill>
              </a:rPr>
              <a:t>•  </a:t>
            </a:r>
            <a:r>
              <a:rPr sz="1500" b="0">
                <a:solidFill>
                  <a:srgbClr val="FFFFFF"/>
                </a:solidFill>
                <a:latin typeface="Calibri"/>
              </a:rPr>
              <a:t>MF is the best balanced single choice.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E50914"/>
                </a:solidFill>
              </a:rPr>
              <a:t>•  </a:t>
            </a:r>
            <a:r>
              <a:rPr sz="1500" b="0">
                <a:solidFill>
                  <a:srgbClr val="FFFFFF"/>
                </a:solidFill>
                <a:latin typeface="Calibri"/>
              </a:rPr>
              <a:t>Sparsity punishes memory-based CF.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4592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50914"/>
                </a:solidFill>
                <a:latin typeface="Calibri"/>
              </a:rPr>
              <a:t>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10312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E50914"/>
                </a:solidFill>
              </a:rPr>
              <a:t>•  </a:t>
            </a:r>
            <a:r>
              <a:rPr sz="1500" b="0">
                <a:solidFill>
                  <a:srgbClr val="FFFFFF"/>
                </a:solidFill>
                <a:latin typeface="Calibri"/>
              </a:rPr>
              <a:t>Scale to the full 100M ratings.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E50914"/>
                </a:solidFill>
              </a:rPr>
              <a:t>•  </a:t>
            </a:r>
            <a:r>
              <a:rPr sz="1500" b="0">
                <a:solidFill>
                  <a:srgbClr val="FFFFFF"/>
                </a:solidFill>
                <a:latin typeface="Calibri"/>
              </a:rPr>
              <a:t>Implicit &amp; ranking-native models (ALS, BPR).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E50914"/>
                </a:solidFill>
              </a:rPr>
              <a:t>•  </a:t>
            </a:r>
            <a:r>
              <a:rPr sz="1500" b="0">
                <a:solidFill>
                  <a:srgbClr val="FFFFFF"/>
                </a:solidFill>
                <a:latin typeface="Calibri"/>
              </a:rPr>
              <a:t>Hybrid / content features for cold-start.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E50914"/>
                </a:solidFill>
              </a:rPr>
              <a:t>•  </a:t>
            </a:r>
            <a:r>
              <a:rPr sz="1500" b="0">
                <a:solidFill>
                  <a:srgbClr val="FFFFFF"/>
                </a:solidFill>
                <a:latin typeface="Calibri"/>
              </a:rPr>
              <a:t>Diversity-aware re-ranking; neural CF.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08080"/>
                </a:solidFill>
                <a:latin typeface="Calibri"/>
              </a:rPr>
              <a:t>Reproducible notebook · fixed seed 42 · 2,500 evaluation users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CCCCCC"/>
                </a:solidFill>
                <a:latin typeface="Calibr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